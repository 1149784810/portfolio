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345" r:id="rId4"/>
    <p:sldId id="2384" r:id="rId6"/>
    <p:sldId id="2386" r:id="rId7"/>
    <p:sldId id="2387" r:id="rId8"/>
    <p:sldId id="2390" r:id="rId9"/>
    <p:sldId id="2388" r:id="rId10"/>
    <p:sldId id="2389" r:id="rId11"/>
    <p:sldId id="2391" r:id="rId12"/>
    <p:sldId id="2392" r:id="rId13"/>
    <p:sldId id="2418" r:id="rId14"/>
    <p:sldId id="2419" r:id="rId15"/>
    <p:sldId id="2420" r:id="rId16"/>
    <p:sldId id="2421" r:id="rId17"/>
    <p:sldId id="2422" r:id="rId18"/>
    <p:sldId id="2423" r:id="rId19"/>
    <p:sldId id="2351" r:id="rId20"/>
    <p:sldId id="2368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24F"/>
    <a:srgbClr val="9B754F"/>
    <a:srgbClr val="FCDC95"/>
    <a:srgbClr val="BC9B7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6314" autoAdjust="0"/>
  </p:normalViewPr>
  <p:slideViewPr>
    <p:cSldViewPr snapToGrid="0" showGuides="1">
      <p:cViewPr varScale="1">
        <p:scale>
          <a:sx n="106" d="100"/>
          <a:sy n="106" d="100"/>
        </p:scale>
        <p:origin x="708" y="108"/>
      </p:cViewPr>
      <p:guideLst>
        <p:guide orient="horz" pos="212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20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160DAEDB-F8EB-4B37-B651-17F046B807D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86751F25-9338-4986-A1F2-54D37A03FFF1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290682" y="294519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511671" y="-888078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9095790" y="5427303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10898143" y="4244706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764002" y="-20138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-1788384" y="-15553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7834860" y="6399026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8084593" y="639686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A17E80-96A6-4509-A64B-F86AA87E17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C9BE40-34EB-4680-AB44-538561DC2F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2123604" y="685800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4037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300" advClick="0" advTm="3000">
        <p14:pan dir="u"/>
      </p:transition>
    </mc:Choice>
    <mc:Fallback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tags" Target="../tags/tag6.xml"/><Relationship Id="rId4" Type="http://schemas.openxmlformats.org/officeDocument/2006/relationships/image" Target="../media/image16.png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tags" Target="../tags/tag10.xml"/><Relationship Id="rId4" Type="http://schemas.openxmlformats.org/officeDocument/2006/relationships/image" Target="../media/image18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2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3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直角三角形 71"/>
          <p:cNvSpPr/>
          <p:nvPr/>
        </p:nvSpPr>
        <p:spPr>
          <a:xfrm rot="5400000">
            <a:off x="1588" y="-1"/>
            <a:ext cx="3715658" cy="371565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1" name="直角三角形 70"/>
          <p:cNvSpPr/>
          <p:nvPr/>
        </p:nvSpPr>
        <p:spPr>
          <a:xfrm rot="16200000">
            <a:off x="8689233" y="3356819"/>
            <a:ext cx="3501180" cy="35011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1588" y="0"/>
            <a:ext cx="3257921" cy="3257921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0" name="直角三角形 69"/>
          <p:cNvSpPr/>
          <p:nvPr/>
        </p:nvSpPr>
        <p:spPr>
          <a:xfrm rot="16200000">
            <a:off x="9120547" y="3788134"/>
            <a:ext cx="3069865" cy="3069865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781419" y="2"/>
            <a:ext cx="3088716" cy="1805556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3" name="平行四边形 72"/>
          <p:cNvSpPr/>
          <p:nvPr/>
        </p:nvSpPr>
        <p:spPr>
          <a:xfrm>
            <a:off x="-2438922" y="1167126"/>
            <a:ext cx="3234853" cy="2990774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4" name="平行四边形 73"/>
          <p:cNvSpPr/>
          <p:nvPr/>
        </p:nvSpPr>
        <p:spPr>
          <a:xfrm>
            <a:off x="11681703" y="2998581"/>
            <a:ext cx="3048130" cy="2818139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5" name="平行四边形 74"/>
          <p:cNvSpPr/>
          <p:nvPr/>
        </p:nvSpPr>
        <p:spPr>
          <a:xfrm>
            <a:off x="7497122" y="5167086"/>
            <a:ext cx="2910426" cy="1701334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2216" y="2032529"/>
            <a:ext cx="10745765" cy="2122805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kern="100" dirty="0">
                <a:solidFill>
                  <a:srgbClr val="002060"/>
                </a:solidFill>
                <a:cs typeface="+mn-ea"/>
                <a:sym typeface="+mn-lt"/>
              </a:rPr>
              <a:t>青海物探处数字化管理平台</a:t>
            </a:r>
            <a:endParaRPr lang="zh-CN" altLang="en-US" sz="6600" b="1" kern="100" dirty="0">
              <a:solidFill>
                <a:srgbClr val="002060"/>
              </a:solidFill>
              <a:cs typeface="+mn-ea"/>
              <a:sym typeface="+mn-lt"/>
            </a:endParaRPr>
          </a:p>
          <a:p>
            <a:pPr algn="ctr"/>
            <a:r>
              <a:rPr lang="zh-CN" altLang="en-US" sz="6600" b="1" kern="100" dirty="0">
                <a:solidFill>
                  <a:srgbClr val="002060"/>
                </a:solidFill>
                <a:cs typeface="+mn-ea"/>
                <a:sym typeface="+mn-lt"/>
              </a:rPr>
              <a:t>进展</a:t>
            </a:r>
            <a:r>
              <a:rPr lang="zh-CN" altLang="en-US" sz="6600" b="1" kern="100" dirty="0" smtClean="0">
                <a:solidFill>
                  <a:srgbClr val="002060"/>
                </a:solidFill>
                <a:cs typeface="+mn-ea"/>
                <a:sym typeface="+mn-lt"/>
              </a:rPr>
              <a:t>汇报</a:t>
            </a:r>
            <a:endParaRPr lang="zh-CN" altLang="zh-CN" sz="6600" b="1" kern="100" dirty="0">
              <a:solidFill>
                <a:srgbClr val="00206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Screenshot_20210702_161333_com.tencent.mm"/>
          <p:cNvPicPr>
            <a:picLocks noChangeAspect="1"/>
          </p:cNvPicPr>
          <p:nvPr/>
        </p:nvPicPr>
        <p:blipFill>
          <a:blip r:embed="rId1"/>
          <a:srcRect t="3739" r="42"/>
          <a:stretch>
            <a:fillRect/>
          </a:stretch>
        </p:blipFill>
        <p:spPr>
          <a:xfrm>
            <a:off x="1993265" y="614045"/>
            <a:ext cx="3054985" cy="5884545"/>
          </a:xfrm>
          <a:prstGeom prst="rect">
            <a:avLst/>
          </a:prstGeom>
        </p:spPr>
      </p:pic>
      <p:pic>
        <p:nvPicPr>
          <p:cNvPr id="6" name="图片 5" descr="Screenshot_20210702_161335_com.tencent.mm"/>
          <p:cNvPicPr>
            <a:picLocks noChangeAspect="1"/>
          </p:cNvPicPr>
          <p:nvPr/>
        </p:nvPicPr>
        <p:blipFill>
          <a:blip r:embed="rId2"/>
          <a:srcRect t="3804" r="82"/>
          <a:stretch>
            <a:fillRect/>
          </a:stretch>
        </p:blipFill>
        <p:spPr>
          <a:xfrm>
            <a:off x="5849620" y="573405"/>
            <a:ext cx="3076575" cy="5925185"/>
          </a:xfrm>
          <a:prstGeom prst="rect">
            <a:avLst/>
          </a:prstGeom>
        </p:spPr>
      </p:pic>
      <p:sp>
        <p:nvSpPr>
          <p:cNvPr id="18" name="Shape 540"/>
          <p:cNvSpPr/>
          <p:nvPr>
            <p:custDataLst>
              <p:tags r:id="rId3"/>
            </p:custDataLst>
          </p:nvPr>
        </p:nvSpPr>
        <p:spPr>
          <a:xfrm>
            <a:off x="4352925" y="163195"/>
            <a:ext cx="3270250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以下为老版本项目功能图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creenshot_20210702_161350_com.tencent.mm"/>
          <p:cNvPicPr>
            <a:picLocks noChangeAspect="1"/>
          </p:cNvPicPr>
          <p:nvPr/>
        </p:nvPicPr>
        <p:blipFill>
          <a:blip r:embed="rId1"/>
          <a:srcRect t="3020" r="610"/>
          <a:stretch>
            <a:fillRect/>
          </a:stretch>
        </p:blipFill>
        <p:spPr>
          <a:xfrm>
            <a:off x="4481830" y="382905"/>
            <a:ext cx="3207385" cy="6260465"/>
          </a:xfrm>
          <a:prstGeom prst="rect">
            <a:avLst/>
          </a:prstGeom>
        </p:spPr>
      </p:pic>
      <p:pic>
        <p:nvPicPr>
          <p:cNvPr id="2" name="图片 1" descr="Screenshot_20210702_161915_com.tencent.mm"/>
          <p:cNvPicPr>
            <a:picLocks noChangeAspect="1"/>
          </p:cNvPicPr>
          <p:nvPr/>
        </p:nvPicPr>
        <p:blipFill>
          <a:blip r:embed="rId2"/>
          <a:srcRect t="2227" r="107"/>
          <a:stretch>
            <a:fillRect/>
          </a:stretch>
        </p:blipFill>
        <p:spPr>
          <a:xfrm>
            <a:off x="8143875" y="75565"/>
            <a:ext cx="2372995" cy="6439535"/>
          </a:xfrm>
          <a:prstGeom prst="rect">
            <a:avLst/>
          </a:prstGeom>
        </p:spPr>
      </p:pic>
      <p:pic>
        <p:nvPicPr>
          <p:cNvPr id="4" name="图片 3" descr="Screenshot_20210702_161341_com.tencent.mm"/>
          <p:cNvPicPr>
            <a:picLocks noChangeAspect="1"/>
          </p:cNvPicPr>
          <p:nvPr/>
        </p:nvPicPr>
        <p:blipFill>
          <a:blip r:embed="rId3"/>
          <a:srcRect t="3677" r="312"/>
          <a:stretch>
            <a:fillRect/>
          </a:stretch>
        </p:blipFill>
        <p:spPr>
          <a:xfrm>
            <a:off x="1092835" y="377825"/>
            <a:ext cx="3244215" cy="6270625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creenshot_20210702_162345_com.tencent.mm"/>
          <p:cNvPicPr>
            <a:picLocks noChangeAspect="1"/>
          </p:cNvPicPr>
          <p:nvPr/>
        </p:nvPicPr>
        <p:blipFill>
          <a:blip r:embed="rId1"/>
          <a:srcRect t="2323" r="198"/>
          <a:stretch>
            <a:fillRect/>
          </a:stretch>
        </p:blipFill>
        <p:spPr>
          <a:xfrm>
            <a:off x="1068705" y="150495"/>
            <a:ext cx="2307590" cy="6434455"/>
          </a:xfrm>
          <a:prstGeom prst="rect">
            <a:avLst/>
          </a:prstGeom>
        </p:spPr>
      </p:pic>
      <p:pic>
        <p:nvPicPr>
          <p:cNvPr id="4" name="图片 3" descr="Screenshot_20210702_162530_com.tencent.mm"/>
          <p:cNvPicPr>
            <a:picLocks noChangeAspect="1"/>
          </p:cNvPicPr>
          <p:nvPr/>
        </p:nvPicPr>
        <p:blipFill>
          <a:blip r:embed="rId2"/>
          <a:srcRect t="2146" r="619"/>
          <a:stretch>
            <a:fillRect/>
          </a:stretch>
        </p:blipFill>
        <p:spPr>
          <a:xfrm>
            <a:off x="3928745" y="150495"/>
            <a:ext cx="2081530" cy="6283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640" y="150495"/>
            <a:ext cx="3530600" cy="614045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/>
        </p:nvSpPr>
        <p:spPr>
          <a:xfrm>
            <a:off x="4490085" y="163195"/>
            <a:ext cx="2741295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可视化图表（数据汇总）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Shape 541"/>
          <p:cNvSpPr/>
          <p:nvPr/>
        </p:nvSpPr>
        <p:spPr>
          <a:xfrm>
            <a:off x="1047115" y="1096010"/>
            <a:ext cx="10097770" cy="38779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在地震队工作人员将每日生产数据上报后，后台会根据数据库信息自动生产可视化图表。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图表采用</a:t>
            </a:r>
            <a:r>
              <a:rPr kumimoji="0" lang="en-US" alt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E-Charts</a:t>
            </a: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第三方库进行生成，分别在小程序端和网页端进行了实现。在实际使用中，通过点击具体项可以查看详细数量或进行放大操作等。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图示如下：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/>
        </p:nvSpPr>
        <p:spPr>
          <a:xfrm>
            <a:off x="4460875" y="163195"/>
            <a:ext cx="3270250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可视化图表（数据汇总）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 descr="-65deb010b5d24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65" y="778510"/>
            <a:ext cx="3325495" cy="5434330"/>
          </a:xfrm>
          <a:prstGeom prst="rect">
            <a:avLst/>
          </a:prstGeom>
        </p:spPr>
      </p:pic>
      <p:pic>
        <p:nvPicPr>
          <p:cNvPr id="3" name="图片 2" descr="设备动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920" y="1731645"/>
            <a:ext cx="7938770" cy="352806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/>
        </p:nvSpPr>
        <p:spPr>
          <a:xfrm>
            <a:off x="5115077" y="163146"/>
            <a:ext cx="1962150" cy="615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0" 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可视化图表（数据汇总）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Shape 540"/>
          <p:cNvSpPr/>
          <p:nvPr/>
        </p:nvSpPr>
        <p:spPr>
          <a:xfrm>
            <a:off x="2550947" y="316816"/>
            <a:ext cx="1962150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点击具体项后</a:t>
            </a:r>
            <a:endParaRPr kumimoji="0" lang="zh-CN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LJB{__{VJ8QT685NE2YSO@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205" y="1974850"/>
            <a:ext cx="7016750" cy="3120390"/>
          </a:xfrm>
          <a:prstGeom prst="rect">
            <a:avLst/>
          </a:prstGeom>
        </p:spPr>
      </p:pic>
      <p:pic>
        <p:nvPicPr>
          <p:cNvPr id="6" name="图片 5" descr="6]1%I3BYR{4FY18X22M415P"/>
          <p:cNvPicPr>
            <a:picLocks noChangeAspect="1"/>
          </p:cNvPicPr>
          <p:nvPr/>
        </p:nvPicPr>
        <p:blipFill>
          <a:blip r:embed="rId2"/>
          <a:srcRect t="-19" r="31065"/>
          <a:stretch>
            <a:fillRect/>
          </a:stretch>
        </p:blipFill>
        <p:spPr>
          <a:xfrm>
            <a:off x="104140" y="1980565"/>
            <a:ext cx="4775200" cy="3114675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累计钻井情况"/>
          <p:cNvPicPr>
            <a:picLocks noChangeAspect="1"/>
          </p:cNvPicPr>
          <p:nvPr/>
        </p:nvPicPr>
        <p:blipFill>
          <a:blip r:embed="rId1"/>
          <a:srcRect t="-50" r="5017"/>
          <a:stretch>
            <a:fillRect/>
          </a:stretch>
        </p:blipFill>
        <p:spPr>
          <a:xfrm>
            <a:off x="650240" y="906780"/>
            <a:ext cx="10770870" cy="5043805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/>
        </p:nvSpPr>
        <p:spPr>
          <a:xfrm>
            <a:off x="5115077" y="163146"/>
            <a:ext cx="1962150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0" 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可视化图表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 descr="近一周钻井趋势——山地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45" y="937895"/>
            <a:ext cx="11483340" cy="510413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>
            <p:custDataLst>
              <p:tags r:id="rId1"/>
            </p:custDataLst>
          </p:nvPr>
        </p:nvSpPr>
        <p:spPr>
          <a:xfrm>
            <a:off x="994410" y="328295"/>
            <a:ext cx="7143115" cy="615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在多次迭代后，对功能重心进行了调整，目前的新版本会依据用户的身份，对应不同的客户端版本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Shape 540"/>
          <p:cNvSpPr/>
          <p:nvPr>
            <p:custDataLst>
              <p:tags r:id="rId2"/>
            </p:custDataLst>
          </p:nvPr>
        </p:nvSpPr>
        <p:spPr>
          <a:xfrm>
            <a:off x="270510" y="1268095"/>
            <a:ext cx="7143115" cy="923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员工登录：</a:t>
            </a:r>
            <a:b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b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43100" y="1186815"/>
            <a:ext cx="2890520" cy="51568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42965" y="1186815"/>
            <a:ext cx="2908935" cy="521716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>
            <p:custDataLst>
              <p:tags r:id="rId1"/>
            </p:custDataLst>
          </p:nvPr>
        </p:nvSpPr>
        <p:spPr>
          <a:xfrm>
            <a:off x="994410" y="328295"/>
            <a:ext cx="7143115" cy="615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在多次迭代后，对功能重心进行了调整，目前的新版本会依据用户的身份，对应不同的客户端版本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Shape 540"/>
          <p:cNvSpPr/>
          <p:nvPr>
            <p:custDataLst>
              <p:tags r:id="rId2"/>
            </p:custDataLst>
          </p:nvPr>
        </p:nvSpPr>
        <p:spPr>
          <a:xfrm>
            <a:off x="270510" y="1268095"/>
            <a:ext cx="7143115" cy="923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管理员登录：</a:t>
            </a:r>
            <a:b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b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60675" y="1136015"/>
            <a:ext cx="2942590" cy="5252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34150" y="1136015"/>
            <a:ext cx="2997835" cy="5335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0510" y="5017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此列为后台自定义表单</a:t>
            </a:r>
            <a:r>
              <a:rPr lang="en-US" altLang="zh-CN"/>
              <a:t>→</a:t>
            </a:r>
            <a:endParaRPr lang="en-US" altLang="zh-CN"/>
          </a:p>
        </p:txBody>
      </p:sp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>
            <p:custDataLst>
              <p:tags r:id="rId1"/>
            </p:custDataLst>
          </p:nvPr>
        </p:nvSpPr>
        <p:spPr>
          <a:xfrm>
            <a:off x="1445260" y="635635"/>
            <a:ext cx="7143115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后台系统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960" y="942975"/>
            <a:ext cx="10800000" cy="5748317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>
            <p:custDataLst>
              <p:tags r:id="rId1"/>
            </p:custDataLst>
          </p:nvPr>
        </p:nvSpPr>
        <p:spPr>
          <a:xfrm>
            <a:off x="1445260" y="635635"/>
            <a:ext cx="7143115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后台系统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91790" y="353060"/>
            <a:ext cx="6976745" cy="589280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>
            <p:custDataLst>
              <p:tags r:id="rId1"/>
            </p:custDataLst>
          </p:nvPr>
        </p:nvSpPr>
        <p:spPr>
          <a:xfrm>
            <a:off x="1445260" y="635635"/>
            <a:ext cx="7143115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后台系统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6450" y="1485900"/>
            <a:ext cx="9652000" cy="464820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0"/>
          <p:cNvSpPr/>
          <p:nvPr>
            <p:custDataLst>
              <p:tags r:id="rId1"/>
            </p:custDataLst>
          </p:nvPr>
        </p:nvSpPr>
        <p:spPr>
          <a:xfrm>
            <a:off x="1445260" y="635635"/>
            <a:ext cx="7143115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4200" spc="84">
                <a:solidFill>
                  <a:srgbClr val="AAAAAA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000" b="1" i="0" u="none" strike="noStrike" kern="1200" cap="none" spc="42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后台系统</a:t>
            </a:r>
            <a:endParaRPr kumimoji="0" lang="zh-CN" altLang="en-US" sz="2000" b="1" i="0" u="none" strike="noStrike" kern="1200" cap="none" spc="42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52575" y="1565275"/>
            <a:ext cx="8464550" cy="2794000"/>
          </a:xfrm>
          <a:prstGeom prst="rect">
            <a:avLst/>
          </a:prstGeom>
        </p:spPr>
      </p:pic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41"/>
          <p:cNvSpPr/>
          <p:nvPr/>
        </p:nvSpPr>
        <p:spPr>
          <a:xfrm>
            <a:off x="831215" y="619760"/>
            <a:ext cx="10097770" cy="72021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>
            <a:spAutoFit/>
          </a:bodyPr>
          <a:lstStyle>
            <a:lvl1pPr algn="l">
              <a:defRPr sz="2400" spc="48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新</a:t>
            </a: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需求应该尽可能清晰明确：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作为软件开发依赖的需求文档而言，以往的案子对开发人员来说还是过于</a:t>
            </a:r>
            <a:r>
              <a:rPr kumimoji="0" lang="en-US" alt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笼统</a:t>
            </a:r>
            <a:r>
              <a:rPr kumimoji="0" lang="en-US" alt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，如这些系统应该如何处理数据（数据提取时需要对数据进行何种操作），一共会有多少种类型的表单，表单的具体内容是什么，这些表单的数据流程是从谁到谁。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只有清晰了很多细节的部分，我才能知道这个系统里有哪些东西需要组织在一起，如果不能，则需要做可高度自定义的后台开发。</a:t>
            </a:r>
            <a:b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</a:t>
            </a:r>
            <a:r>
              <a:rPr kumimoji="0" lang="zh-CN" altLang="en-US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在之前的开发迭代中，有过一次自定义程度非常高的系统，可以在后台配置各种前端界面，但最后因为操作过于复杂，没有直接采用。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r>
              <a:rPr kumimoji="0" lang="en-US" altLang="zh-CN" sz="2400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	</a:t>
            </a: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spc="0">
                <a:solidFill>
                  <a:srgbClr val="000000"/>
                </a:solidFill>
              </a:defRPr>
            </a:pPr>
            <a:endParaRPr kumimoji="0" lang="zh-CN" altLang="en-US" sz="2400" b="0" i="0" u="none" strike="noStrike" kern="1200" cap="none" spc="24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直角三角形 71"/>
          <p:cNvSpPr/>
          <p:nvPr/>
        </p:nvSpPr>
        <p:spPr>
          <a:xfrm rot="5400000">
            <a:off x="1588" y="-1"/>
            <a:ext cx="3715658" cy="371565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1" name="直角三角形 70"/>
          <p:cNvSpPr/>
          <p:nvPr/>
        </p:nvSpPr>
        <p:spPr>
          <a:xfrm rot="16200000">
            <a:off x="8689233" y="3356819"/>
            <a:ext cx="3501180" cy="35011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1588" y="0"/>
            <a:ext cx="3257921" cy="3257921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0" name="直角三角形 69"/>
          <p:cNvSpPr/>
          <p:nvPr/>
        </p:nvSpPr>
        <p:spPr>
          <a:xfrm rot="16200000">
            <a:off x="9120547" y="3788134"/>
            <a:ext cx="3069865" cy="3069865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781419" y="2"/>
            <a:ext cx="3088716" cy="1805556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3" name="平行四边形 72"/>
          <p:cNvSpPr/>
          <p:nvPr/>
        </p:nvSpPr>
        <p:spPr>
          <a:xfrm>
            <a:off x="-2438922" y="1167126"/>
            <a:ext cx="3234853" cy="2990774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平行四边形 73"/>
          <p:cNvSpPr/>
          <p:nvPr/>
        </p:nvSpPr>
        <p:spPr>
          <a:xfrm>
            <a:off x="11681703" y="2998581"/>
            <a:ext cx="3048130" cy="2818139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5" name="平行四边形 74"/>
          <p:cNvSpPr/>
          <p:nvPr/>
        </p:nvSpPr>
        <p:spPr>
          <a:xfrm>
            <a:off x="7497122" y="5167086"/>
            <a:ext cx="2910426" cy="1701334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2531" y="2414164"/>
            <a:ext cx="10745765" cy="1106805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kern="100" dirty="0">
                <a:solidFill>
                  <a:srgbClr val="002060"/>
                </a:solidFill>
                <a:cs typeface="+mn-ea"/>
                <a:sym typeface="+mn-lt"/>
              </a:rPr>
              <a:t>展示结束</a:t>
            </a:r>
            <a:endParaRPr lang="zh-CN" altLang="zh-CN" sz="6600" b="1" kern="100" dirty="0">
              <a:solidFill>
                <a:srgbClr val="00206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0.xml><?xml version="1.0" encoding="utf-8"?>
<p:tagLst xmlns:p="http://schemas.openxmlformats.org/presentationml/2006/main">
  <p:tag name="KSO_WPP_MARK_KEY" val="3e7b4173-0740-4aed-ac4c-543ae62dd7ea"/>
  <p:tag name="COMMONDATA" val="eyJoZGlkIjoiODc0YjhhZWJiNTU4Yjg5NGE0YTM1NjQ4NGQ3M2NjNjQifQ=="/>
</p:tagLst>
</file>

<file path=ppt/theme/theme1.xml><?xml version="1.0" encoding="utf-8"?>
<a:theme xmlns:a="http://schemas.openxmlformats.org/drawingml/2006/main" name="第一PPT，www.1ppt.com">
  <a:themeElements>
    <a:clrScheme name="自定义 37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00000"/>
      </a:accent1>
      <a:accent2>
        <a:srgbClr val="119169"/>
      </a:accent2>
      <a:accent3>
        <a:srgbClr val="C00000"/>
      </a:accent3>
      <a:accent4>
        <a:srgbClr val="119169"/>
      </a:accent4>
      <a:accent5>
        <a:srgbClr val="C00000"/>
      </a:accent5>
      <a:accent6>
        <a:srgbClr val="119169"/>
      </a:accent6>
      <a:hlink>
        <a:srgbClr val="C00000"/>
      </a:hlink>
      <a:folHlink>
        <a:srgbClr val="119169"/>
      </a:folHlink>
    </a:clrScheme>
    <a:fontScheme name="rmjarsww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WPS 演示</Application>
  <PresentationFormat>宽屏</PresentationFormat>
  <Paragraphs>49</Paragraphs>
  <Slides>17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阿里巴巴普惠体 R</vt:lpstr>
      <vt:lpstr>仿宋_GB2312</vt:lpstr>
      <vt:lpstr>仿宋</vt:lpstr>
      <vt:lpstr>Calibri</vt:lpstr>
      <vt:lpstr>Oswald Light</vt:lpstr>
      <vt:lpstr>Segoe Print</vt:lpstr>
      <vt:lpstr>Source Sans Pro</vt:lpstr>
      <vt:lpstr>微软雅黑</vt:lpstr>
      <vt:lpstr>Arial Unicode MS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wander.</cp:lastModifiedBy>
  <cp:revision>85</cp:revision>
  <dcterms:created xsi:type="dcterms:W3CDTF">2019-01-02T05:18:00Z</dcterms:created>
  <dcterms:modified xsi:type="dcterms:W3CDTF">2023-09-01T01:37:50Z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63EE2F6240EA47B5847EB46A92C00920_12</vt:lpwstr>
  </property>
</Properties>
</file>