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91" r:id="rId4"/>
    <p:sldId id="257" r:id="rId5"/>
    <p:sldId id="258" r:id="rId6"/>
    <p:sldId id="259" r:id="rId7"/>
    <p:sldId id="292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93" r:id="rId21"/>
    <p:sldId id="273" r:id="rId22"/>
    <p:sldId id="296" r:id="rId23"/>
    <p:sldId id="290" r:id="rId24"/>
    <p:sldId id="274" r:id="rId25"/>
    <p:sldId id="275" r:id="rId26"/>
    <p:sldId id="276" r:id="rId27"/>
    <p:sldId id="277" r:id="rId28"/>
    <p:sldId id="294" r:id="rId29"/>
    <p:sldId id="278" r:id="rId30"/>
    <p:sldId id="279" r:id="rId31"/>
    <p:sldId id="280" r:id="rId32"/>
    <p:sldId id="281" r:id="rId33"/>
    <p:sldId id="299" r:id="rId34"/>
    <p:sldId id="282" r:id="rId35"/>
    <p:sldId id="283" r:id="rId36"/>
    <p:sldId id="284" r:id="rId37"/>
    <p:sldId id="285" r:id="rId38"/>
    <p:sldId id="297" r:id="rId39"/>
    <p:sldId id="295" r:id="rId40"/>
    <p:sldId id="286" r:id="rId41"/>
    <p:sldId id="287" r:id="rId42"/>
    <p:sldId id="288" r:id="rId43"/>
    <p:sldId id="289" r:id="rId44"/>
    <p:sldId id="298" r:id="rId45"/>
    <p:sldId id="272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50" d="100"/>
          <a:sy n="150" d="100"/>
        </p:scale>
        <p:origin x="45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77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AutoRTS </a:t>
            </a:r>
            <a:r>
              <a:rPr lang="zh-CN" alt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程序优化培训</a:t>
            </a:r>
            <a:endParaRPr lang="zh-CN" altLang="en-US"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544695"/>
            <a:ext cx="10515600" cy="2825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600" b="0" dirty="0" err="1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主讲人：何健乐</a:t>
            </a:r>
            <a:endParaRPr lang="zh-CN" sz="1600" b="0" dirty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45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56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原理与架构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 err="1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复杂</a:t>
            </a:r>
            <a:r>
              <a:rPr sz="1600" b="0" dirty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sz="1600" b="0" dirty="0" err="1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简单模块的组合；先懂帧同步架构，再谈容器</a:t>
            </a:r>
            <a:endParaRPr sz="1600" b="0" dirty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第一性原理：简单模块 × 增删改查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架构：逻辑层（BattleCore）与表现层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帧同步的确定性 → 容器与排序纪律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开篇：第一性原理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复杂的东西，底层永远是简单的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10515600" cy="155448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9875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“The program is composed of simple, straightforward modules,</a:t>
            </a:r>
            <a:endParaRPr sz="150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  with each one doing one thing well.”</a:t>
            </a:r>
            <a:endParaRPr sz="150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—— Rob Pike《Notes on Programming in C》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简单模块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388620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复杂系统 = 简单模块的组合。容器 = 内存布局 + 增删改查；算法 = 查找 / 排序 / 遍历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120" y="320040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4290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业务本质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20" y="388620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就像后端都是增删改查（CRUD），大部分游戏业务代码，本质上也是对数据的增删改查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55279" y="320040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34290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锚定原理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83879" y="388620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写代码时自检：这段代码在做哪种操作？容器选对了吗？顺序依赖了吗？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本课所有内容，都是这三个卡片的具体展开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AutoRTS 架构：逻辑层与表现层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先懂架构，再写代码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280160"/>
            <a:ext cx="5212080" cy="365760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逻辑层 BattleCore（纯 C++）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6634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帧同步（Lockstep）：输入同步，结果逐帧一致</a:t>
            </a:r>
            <a:endParaRPr sz="13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客户端 / 服务端双端复用同一份代码</a:t>
            </a:r>
            <a:endParaRPr sz="13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确定性优先：定点数 FF24 / FFDec，不用 float</a:t>
            </a:r>
            <a:endParaRPr sz="13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禁止调用表现层：不能碰 UI、渲染、Actor</a:t>
            </a:r>
            <a:endParaRPr sz="13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212080" cy="3657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087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表现层 BattleVisualization / UI</a:t>
            </a:r>
            <a:endParaRPr sz="1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634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渲染、特效、音效、输入、界面</a:t>
            </a:r>
            <a:endParaRPr sz="13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可自由使用引擎特性与各种容器</a:t>
            </a:r>
            <a:endParaRPr sz="13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单向依赖逻辑层：读取状态，渲染表现</a:t>
            </a:r>
            <a:endParaRPr sz="13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性能优先：每帧更新、缓存、节流</a:t>
            </a:r>
            <a:endParaRPr sz="13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515600" cy="220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dirty="0" err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核心约束：逻辑层代码必须脱离表现层独立运行</a:t>
            </a:r>
            <a:endParaRPr sz="1350" b="1" dirty="0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帧同步的确定性，决定逻辑层的容器纪律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逻辑层的容器问题 = 正确性问题，不只是性能问题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1850" y="1371600"/>
          <a:ext cx="10506710" cy="1975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5670"/>
                <a:gridCol w="4480560"/>
                <a:gridCol w="38404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为什么危险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纪律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排序不稳定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Sort 是快排，并列元素顺序不定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需要稳定时用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StableSort；比较器必须是严格全序</a:t>
                      </a:r>
                      <a:endParaRPr sz="1200" b="0" dirty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浮点运算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不同平台/指令集结果可能不同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用定点数（项目已用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FF24 / 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FFDec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200" b="0" dirty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表现层则没有这些约束：UI / 特效 / Actor 怎么快怎么来</a:t>
            </a:r>
            <a:endParaRPr sz="13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515600" cy="216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sz="13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写逻辑层代码前，先问一句：这段代码在两端跑，结果会一样吗</a:t>
            </a:r>
            <a:r>
              <a:rPr sz="13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sz="13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45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56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容器与算法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从内存布局看懂四种容器，选型即有答案</a:t>
            </a:r>
            <a:endParaRPr sz="16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心智模型：TArray / TMap / TSet / TSortedMap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TArray：新增 · 删除 · 查找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TMap / TSet：Key 选型与查找姿势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字符串 · Algo 算法 · 决策表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9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容器的本质是内存布局</a:t>
            </a:r>
            <a:endParaRPr sz="2400" b="1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四个容器，一张表记住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71600"/>
          <a:ext cx="105156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011680"/>
                <a:gridCol w="1828800"/>
                <a:gridCol w="274320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容器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内存布局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查找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增删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迭代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TArray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连续内存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O(n) 线性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尾部 O(1)，中间 O(n)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有序 · 缓存友好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TMap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哈希桶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O(1) 按键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O(1)，可能 rehash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无序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TSet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哈希桶（只有键）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O(1)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O(1)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无序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TSortedMap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红黑树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O(log n)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O(log n)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有序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一句话：TArray 遍历最快；哈希容器按键最快；迭代顺序只信 TArray 和 TSortedMap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515600" cy="555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sz="13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数据量小时</a:t>
            </a:r>
            <a:r>
              <a:rPr lang="zh-CN" altLang="en-US" sz="13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13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TArray</a:t>
            </a:r>
            <a:r>
              <a:rPr sz="13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线性查找常常比哈希还快（缓存友好</a:t>
            </a:r>
            <a:r>
              <a:rPr sz="13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sz="13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sz="13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所以选型先看两个问题：遍历还是按键查？顺序要不要</a:t>
            </a:r>
            <a:r>
              <a:rPr sz="13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sz="13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一句话选型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需求定，容器就定了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667512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72768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要遍历 · 要保序 · 数量小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单位组、武器槽、特效列表</a:t>
            </a:r>
            <a:endParaRPr sz="11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680960" y="1463040"/>
            <a:ext cx="3566160" cy="8686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916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TArray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2560320"/>
            <a:ext cx="667512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70048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按键取东西 · 查重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技能表、配置表、选中集合</a:t>
            </a:r>
            <a:endParaRPr sz="11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80960" y="2560320"/>
            <a:ext cx="3566160" cy="8686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78892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TMap / TSet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667512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有序遍历 + 按键查 · 读多写少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排行榜、时间序事件表</a:t>
            </a:r>
            <a:endParaRPr sz="11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80960" y="3657600"/>
            <a:ext cx="3566160" cy="8686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38862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TSortedMap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2960" y="4754880"/>
            <a:ext cx="667512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864608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先进先出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命令队列</a:t>
            </a:r>
            <a:endParaRPr sz="11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680960" y="4754880"/>
            <a:ext cx="3566160" cy="8686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498348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TQueue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口诀：先问「遍历 or 按键查 or 有序」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TArray：新增元素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批量构造是扩容的高发区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6949440" cy="1554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不预留：每 Add 一次都可能扩容、搬运整个数组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Caches.Add(EffectCache);            // 还有一次拷贝构造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预留 + 原地构造：零拷贝、不扩容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Caches.Reserve(ExpectedCount);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Caches.Emplace(EffectID, ...);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20" y="1417320"/>
            <a:ext cx="3657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Emplace：在容器内存里直接构造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Reserve：先声明「我会加 N 个」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循环批量塞数据的代码，开头先 Reserve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项目实测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Emplace 207 </a:t>
            </a:r>
            <a:r>
              <a:rPr sz="13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处，意识良好；Reserve</a:t>
            </a:r>
            <a:r>
              <a:rPr sz="13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仅 29 </a:t>
            </a:r>
            <a:r>
              <a:rPr sz="13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处，批量场景记得补</a:t>
            </a:r>
            <a:endParaRPr sz="13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TArray：删除元素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删除前先问：这个数组的顺序重要吗？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71600"/>
          <a:ext cx="5303520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914400"/>
                <a:gridCol w="201168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API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保序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复杂度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Remove(Value)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O(n)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RemoveAt(Index)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O(n)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RemoveAtSwap(Index)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O(1)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RemoveAll(Pred)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批量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O(n) 一次遍历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1371600"/>
            <a:ext cx="3474720" cy="896112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单位阵亡移除：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顺序无所谓 → O(1)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Units.RemoveAtSwap(Idx);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遍历中删除的正确姿势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4434840"/>
            <a:ext cx="6949440" cy="1115568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for (int32 i = Arr.Num() - 1; i &gt;= 0; --i)   // 倒序删，索引不乱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if (ShouldRemove(Arr[i])) Arr.RemoveAtSwap(i);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或一行：Arr.RemoveAll(谓词) —— 项目已在大量使用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0" y="45262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RemoveAtSwap 全库仅 5 处，战斗内高频删除应多用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TArray：查找是 O(n)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下结论前，先确认容器类型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132320" cy="1993391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先确认类型：SoundList 是 TMap&lt;EWeaponSoundState, USoundBase*&gt;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（WeaponConfig.h:60）→ 枚举 Key 哈希，O(1)，没问题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if (!WeaponConfig-&gt;SoundList.Contains(State)) return;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反例：UnitEffectCaches 是 TArray，手写线性查找 O(n)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（BaseUnitActor.cpp:2040）→ 换 TMap 或 Algo::FindByPredicate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for (auto&amp; It : UnitEffectCaches)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if (EffectKind == It.EffectID) return;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0" y="1417320"/>
            <a:ext cx="34747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教学案例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看到 Contains 先别急着优化：查头文件确认是 TArray 还是 TMap、调用是每帧还是事件。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规则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TArray 的 Contains / Find 每次都是全数组扫描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高频按键查找 → 换 TMap / TSet，或按 ID 建索引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TMap / TSet：Key 的选型是第一优先级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哈希容器的开销 = 哈希计算 + 键比较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6217920" cy="95097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整数 / 枚举   ▸ 最快</a:t>
            </a:r>
            <a:endParaRPr sz="13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FName        ▸ 比较 O(1)，全局表索引</a:t>
            </a:r>
            <a:endParaRPr sz="13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FString      ▸ 最贵：长度哈希 + 逐字符比较</a:t>
            </a:r>
            <a:endParaRPr sz="13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0" y="1417320"/>
            <a:ext cx="42976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项目 24 处 TMap&lt;FString&gt;：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多数在 UI / SDK / 存档等低频路径，可接受；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战斗内触达的（RTSAssetManager.h:46 等）建议换 FName / 整数 ID。</a:t>
            </a:r>
            <a:endParaRPr sz="12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正面教材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• WeaponConfig.h:60 用枚举做 Key（EWeaponSoundState）→ O(1)</a:t>
            </a:r>
            <a:endParaRPr sz="13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• RTSAssetSkinEffect.h:212 用 int 做 Key（AbilityEmitBombEffects）→ O(1)</a:t>
            </a:r>
            <a:endParaRPr sz="13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• 新代码规则：整数 / 枚举 &gt; FName &gt; FString；FString 只用于外部数据对接</a:t>
            </a:r>
            <a:endParaRPr sz="1300" b="0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TMap：一次查找，不要两次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Contains + [] 是两次哈希；Find 一次搞定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132320" cy="1993391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不推荐：Contains 一次哈希，[] 又一次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if (Map.Contains(Key) &amp;&amp; Map[Key].bReady) { ... }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推荐：Find 返回指针，判空即存在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if (const FWeaponData* Data = Map.Find(Key))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if (Data-&gt;bReady) { ... }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0" y="1417320"/>
            <a:ext cx="34747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FindOrAdd 的陷阱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找不到会默认构造并插入 —— 只读场景别用；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逻辑不变量用 FindChecked（找不到直接断言失败）。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TMap 迭代是无序的 —— 需要有序输出时先排序（见后页）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遍历 TMap 不要用 [] 取值（每次又哈希一遍）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TSet：去重与集合运算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TSet = 只有键的 TMap，Contains 是 O(1)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6583680" cy="1554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TSet&lt;FUnit*&gt; Picked;                    // 去重 / 查重 O(1)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if (!Picked.Contains(Unit)) Picked.Add(Unit);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A.Intersect(B);   // 交集 —— 项目已用 51 处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A.Union(B);       // 并集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A.Difference(B);  // 差集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0" y="1417320"/>
            <a:ext cx="39319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项目案例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SkinEffectManager.h:31 的 BuffStack 用 TSet&lt;int&gt;，每帧 Contains O(1)，正确；</a:t>
            </a:r>
            <a:endParaRPr sz="12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同文件另一类却用了 TArray&lt;int&gt; 同语义 —— 改代码时别把 TSet 改回 TArray。</a:t>
            </a:r>
            <a:endParaRPr sz="12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「选中集合」「可交互集合」「互斥集合」优先 TSet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既要遍历又要查重：TArray（遍历）+ TSet（查重）双结构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字符串：FString / FName / FText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别用 FString 当 Key，别在热路径拼字符串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71600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2926080"/>
                <a:gridCol w="2194560"/>
                <a:gridCol w="39319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内存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比较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用途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FString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堆分配 · 可变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逐字符 O(n)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显示、拼接、日志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FName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全局表索引 · 不可变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O(1)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ID、Key、Socket 名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FText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本地化包装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慢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面向玩家的文案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3977639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项目反模式：运行时拼字符串再转 FName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4389120"/>
            <a:ext cx="10515600" cy="896112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BaseUnitActor.cpp:2359 / Soldier.cpp:305 —— 战斗内创建乘员时调用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return FName(*FString::Format(TEXT("Transport_{0}"), { SeatIndex + 1 }));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// 每次堆分配 + 查全局表；应预生成 TArray&lt;FName&gt; 或 static 缓存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红线：Tick / 循环体里禁止字符串拼接、GetName()、Format、ToString()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算法：别手写循环 —— Algo 家族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项目全库只用 12 处，潜力很大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132320" cy="133502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手写查找（BaseUnitActor.cpp:2040）→ 一行代替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const auto* Cache = Algo::FindByPredicate(UnitEffectCaches,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[EffectKind](const auto&amp; C) { return C.EffectID == EffectKind; });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Algo::AnyOf / Algo::AllOf / Algo::CountIf   // 存在 / 全部 / 计数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0" y="1417320"/>
            <a:ext cx="34747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优势</a:t>
            </a:r>
            <a:endParaRPr sz="13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意图一目了然，谓词可复用，避免手写循环的边界 bug。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排序与二分的两条硬规则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TArray::Sort 是快排、不稳定 —— 并列元素的相对顺序会变；UI 列表、名次并列用 StableSort（项目 76 : 11 处）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Algo::BinarySearch 前提是数组已排序 —— 未排序就二分，结果未定义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选型决策表（速查）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所有结论一页汇总，建议贴显示器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71600"/>
          <a:ext cx="1051560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80560"/>
                <a:gridCol w="4023360"/>
                <a:gridCol w="2011680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用这个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不要用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单位列表 · 特效列表 · 武器槽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TArray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TMap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按键取数据（技能表 / 配置表）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TMap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TArray + 线性 Find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Key 是字符串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FName 当 Key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FString 当 Key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去重 / 查重 / 交并差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TSet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TArray + Contains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有序遍历 + 按键查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TSortedMap / 有序数组 + 二分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TMap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只遍历不持有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TArrayView / const TArray&amp;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按值传参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FIFO 队列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TQueue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TArray + RemoveAt(0)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批量删除不保序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RemoveAtSwap / RemoveAll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循环里逐个 RemoveAt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循环里批量 Add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Reserve + Emplace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裸 Add</a:t>
                      </a:r>
                      <a:endParaRPr sz="11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778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提醒：元素 &lt; 100 个时，TArray 线性查找往往比哈希快 —— 别为了「高级」上 TMap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写代码前必问的 5 个问题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再复习一遍第一性原理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9047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① 数据多大？            &lt;100 个元素，TArray 线性查找可能更快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2121408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40279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② 访问模式？            每帧遍历 → TArray；按键取 → TMap；都要 → 双结构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2871215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90087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③ 顺序重要吗？          有 → 保序操作（Remove / StableSort）；没有 → SwapRemove / 快排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3621023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3989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④ 在 Tick 里吗？        是 → 禁字符串、线性查找、NewObject、Trace；先缓存好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4370831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89703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⑤ Key 是什么类型？      FString 想清楚能否换 FName / 整数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5360" y="5120639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三条总纪律</a:t>
            </a:r>
            <a:endParaRPr sz="1450" b="1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75360" y="548639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sz="1300" b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先确认容器类型与调用频率，再谈优化（SoundList</a:t>
            </a:r>
            <a:r>
              <a:rPr sz="13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300" b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案例</a:t>
            </a:r>
            <a:r>
              <a:rPr sz="13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sz="1300" b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sz="1300" b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逻辑层代码自问：双端跑，结果一致吗</a:t>
            </a:r>
            <a:r>
              <a:rPr sz="13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？（</a:t>
            </a:r>
            <a:r>
              <a:rPr sz="1300" b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顺序</a:t>
            </a:r>
            <a:r>
              <a:rPr sz="13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sz="1300" b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排序</a:t>
            </a:r>
            <a:r>
              <a:rPr sz="13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sz="1300" b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定点数</a:t>
            </a:r>
            <a:r>
              <a:rPr sz="13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sz="1300" b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sz="1300" b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先写对，再优化</a:t>
            </a:r>
            <a:r>
              <a:rPr sz="13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sz="1300" b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优化以</a:t>
            </a:r>
            <a:r>
              <a:rPr sz="13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Profiler </a:t>
            </a:r>
            <a:r>
              <a:rPr sz="1300" b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数据为依据，不凭感觉</a:t>
            </a:r>
            <a:endParaRPr sz="1300" b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45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56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内存与分配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热路径的默认目标：零堆分配</a:t>
            </a:r>
            <a:endParaRPr sz="16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内存分配：内联 vs 堆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UE 的 GC 原理与 UPROPERTY 标注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Small Vector 与 TInlineAllocator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for 循环与 Tick 的分配纪律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内存分配：能内联就内联，能复用就复用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堆分配是隐藏的性能敌人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71600"/>
          <a:ext cx="1051560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389120"/>
                <a:gridCol w="429768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对比项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栈 / 内联（对象内部）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堆（FMemory::Malloc）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分配开销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零（编译期已固定）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分配器查找、锁、可能触发页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缓存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随对象连续存放，友好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地址离散，命中率低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适用场景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数量小 · 生命周期短 · 热路径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数量大 · 生命周期长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3977639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关键认知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堆分配真正的成本是「频率」：每帧 × 单位数 × 次数 = 分配器锁竞争 + 内存碎片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UObject 的 NewObject 还有 GC 跟踪成本，比普通堆分配更贵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• 热路径（Tick / 高频调用）的默认目标：零堆分配</a:t>
            </a:r>
            <a:endParaRPr sz="1300" b="0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UE 的 GC：标记-清除的引用追踪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UObject 不用手动 delete —— 生命周期交给垃圾回收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根集合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当前栈上的 UObject、类默认对象（CDO）、全局对象、UPROPERTY 标记引用的对象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002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标记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从根集合出发，沿 UPROPERTY 引用遍历，可达的对象标记为「存活」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55279" y="13716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6002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清除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83879" y="20574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不可达（无任何引用链）的对象，在 GC 回合被统一回收销毁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3429000"/>
            <a:ext cx="7223760" cy="896112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你「持有」一个 UObject 的唯一方式：让 GC 看得见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UPROPERTY() USoundBase* MySound;   // 根集合追踪 → 存活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USoundBase* TmpSound;              // 看不见 → 随时被回收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3474720"/>
            <a:ext cx="34747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增量式</a:t>
            </a:r>
            <a:endParaRPr sz="13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每帧分配量达到阈值才触发 GC，分摊卡顿，不是一次性全扫。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结论：UObject 不手动 delete；UPROPERTY() = 向 GC 声明「我持有它」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项目对照：BattleCore 纯 C++（无 GC，自己管内存）；表现层 UObject 全走 GC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UPROPERTY 标注：与 GC 生死攸关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不标注 = 引擎不认为你持有它 = 随时被回收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223760" cy="1993391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未标注：GC 扫描不到这个引用，对象随时被回收 → 悬垂崩溃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USoundBase* MySound;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标注：GC 保持它存活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UPROPERTY() USoundBase* MySound;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弱引用：不阻止回收，销毁后自动失效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TWeakObjectPtr&lt;AActor&gt; Target;   // IsValid() 判空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34747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核心认知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UE 的 GC 是标记-清除：只有被 UPROPERTY 标记的引用才算「持有」。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未标记的 UObject 成员指针 = 「随机崩溃」最常见的来源之一，是正确性问题不是风格问题。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• 规则：持有 UObject 指针的成员一律 UPROPERTY()；局部临时指针不用标</a:t>
            </a:r>
            <a:endParaRPr sz="13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项目对照：BattleCore 纯 C++ 无 UObject，不受影响；表现层所有 Actor / 组件 / 资源引用都要标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Small Vector：数据量小就不碰堆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SSO —— Small Size Optimization，小对象优化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10515600" cy="141732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72768"/>
            <a:ext cx="9966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原理：对象内部嵌入一小块固定缓冲。</a:t>
            </a:r>
            <a:endParaRPr sz="1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元素放得下 → 直接用内部缓冲，零堆分配；放不下 → 才转到堆上。</a:t>
            </a:r>
            <a:endParaRPr sz="14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表现：对象的大小「变大了一点」，但堆分配「少了很多」。</a:t>
            </a:r>
            <a:endParaRPr sz="14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Consolas" panose="020B0609020204030204"/>
                <a:ea typeface="Consolas" panose="020B0609020204030204"/>
              </a:rPr>
              <a:t>内部缓冲        [ A | B | C | _ | _ ]        ←  第 4 个元素时，转堆</a:t>
            </a:r>
            <a:endParaRPr sz="1300" b="0">
              <a:solidFill>
                <a:srgbClr val="333333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何时用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• 元素数量小且上限可预估（一般 ≤ 32）—— 小组员列表、技能参数、临时集合</a:t>
            </a:r>
            <a:endParaRPr sz="13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• 热路径中高频创建销毁的容器</a:t>
            </a:r>
            <a:endParaRPr sz="13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数量可能很大、不确定 → 别用，老老实实 TArray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同一思想：C++ 的 std::inplace_vector / std::string 的短字符串优化（SSO）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UE 实践：TInlineAllocator 与 TStaticArray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UE 里的小对象优化，一行模板参数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132320" cy="2212848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前 32 个元素内联在对象里，超出才转堆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TArray&lt;FUnit*, TInlineAllocator&lt;32&gt;&gt; Members;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编译期定长，完全零堆分配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TStaticArray&lt;int32, 8&gt; GridOffsets;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内联字符串缓冲，替代反复 FString 拼接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TStringBuilder&lt;256&gt; Builder;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Builder.AppendInt(Index);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0" y="1417320"/>
            <a:ext cx="34747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代价：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每个对象多占 N × sizeof(T) 字节 —— 别给大量对象（比如每个单位）配大容量内联缓冲。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适合放：小组员列表、技能参数、临时集合。</a:t>
            </a:r>
            <a:endParaRPr sz="12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与 TArray 的对比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默认 TArray = 堆分配（FHeapAllocator）：对象 16 字节，但每次操作都走堆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TInlineAllocator&lt;N&gt; = 内联优先：对象变大，但小数据量阶段零堆分配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for 循环内不要申请容器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每次迭代都在构造 + 堆分配 + 析构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132320" cy="3310128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每次迭代：构造容器 + 可能堆分配 + 析构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for (auto&amp; Group : AllGroups)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TArray&lt;FUnit*&gt; Local;          // 每轮都重新分配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    Local.Add(Group-&gt;GetLeader());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提到循环外，Reset 复用（容量保留）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TArray&lt;FUnit*&gt; Local;  Local.Reserve(32);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for (auto&amp; Group : AllGroups)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Local.Reset();                  // 只清元素，容量还在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    Local.Add(Group-&gt;GetLeader());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0" y="1417320"/>
            <a:ext cx="34747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关键区别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Reset() 清元素、保留容量；Empty() 清元素、释放容量（下一轮还要重新分配）。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嵌套循环同理：容器能提多外，就提多外。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• 配合 TInlineAllocator：循环内临时小容器，直接零分配</a:t>
            </a:r>
            <a:endParaRPr sz="13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Tick 里不要频繁堆分配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热路径的堆分配会被「单位数 × 帧率」放大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132320" cy="177393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Tick 里的堆分配三连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void Tick(float Dt)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auto* Flash = NewObject&lt;UFlash&gt;();   // 每帧新建 + GC 跟踪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TArray&lt;FVector&gt; Points;              // 每帧扩容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FString Msg = FString::Printf(...);  // 每帧堆分配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0" y="1417320"/>
            <a:ext cx="34747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对策</a:t>
            </a:r>
            <a:endParaRPr sz="13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预创建 + 对象池：Tick 里取/还，不新建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成员变量容器 + Reset 复用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TStringBuilder / 缓存文本，替代拼接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项目背景：单位多时，ABaseUnitActor 每帧 Tick × 单位数量，任何一次堆分配都被放大 N 倍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• 纪律：写 Tick 函数时，保证其中「堆分配次数 = 0」</a:t>
            </a:r>
            <a:endParaRPr sz="1300" b="0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45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56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类型与生命周期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类型混用与生命周期，是「随机崩溃」的两大来源</a:t>
            </a:r>
            <a:endParaRPr sz="16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有符号 / 无符号：std::cmp 安全比较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迭代器失效 · 结构体初始化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仿函数与 Lambda · UE 委托 · 蓝图纪律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auto 的拷贝陷阱 · 指针类型选型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int 与 size_t：隐式转换的陷阱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有符号与无符号混合比较 / 运算，int 会先被转成无符号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223760" cy="243230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比较：-1 被转成 4294967295，条件意外成立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int32 Index = -1;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if (Index &lt; V.size())        // 负数 &lt; 无符号 → 变成巨大正数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    Use(V[Index]);           // 越界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减法下溢：size_t 无负数，1 - 2 = 巨大数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size_t Diff = A - B;         // 下溢，不是 -1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空容器 + size()-1：同样下溢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for (size_t i = V.size() - 1; ...)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34747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为什么会这样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C++ 的隐式转换规则：有符号与无符号混合时，有符号值先转为无符号 —— 负数变成巨大的正数。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结果不是崩溃提示，而是「悄悄错」的越界 / 死循环。</a:t>
            </a:r>
            <a:endParaRPr sz="12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项目实测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全库 532 处 size_t、1493 处 std::vector —— 主要在编辑器 / 桥接 / 工具层，与 int 交界处就是雷区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注意：UE 容器 TArray::Num() 返回 int32（不是 size_t），UE 内部混算风险低；std 容器 .size() 才是 size_t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安全比较：std::cmp 家族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C++20 起标准库提供；本项目是 C++17，需自实现或升级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223760" cy="2212848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#include &lt;utility&gt;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C++20：类型无关的安全比较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std::cmp_less(Index, V.size());        // 有符号/无符号都安全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std::cmp_equal(A, B);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std::cmp_greater(Count, Limit);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std::in_range&lt;int32&gt;(V.size());        // size_t 能否安全放进 int32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项目是 C++17（AutoRTS.Build.cs）→ 需自实现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逻辑：同符号直接比；异符号先判负数，再转无符号比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3643885"/>
            <a:ext cx="7223760" cy="2651759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C++17 简版实现（可放公共头）</a:t>
            </a:r>
            <a:endParaRPr sz="10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template &lt;typename T, typename U&gt;</a:t>
            </a:r>
            <a:endParaRPr sz="10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bool cmp_less(T a, U b)</a:t>
            </a:r>
            <a:endParaRPr sz="10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0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    if constexpr (std::is_signed_v&lt;T&gt; == std::is_signed_v&lt;U&gt;)</a:t>
            </a:r>
            <a:endParaRPr sz="10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        return a &lt; b;</a:t>
            </a:r>
            <a:endParaRPr sz="10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    else if constexpr (std::is_signed_v&lt;T&gt;)</a:t>
            </a:r>
            <a:endParaRPr sz="10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    return a &lt; 0 || (std::make_unsigned_t&lt;T&gt;)a &lt; b;</a:t>
            </a:r>
            <a:endParaRPr sz="10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    else</a:t>
            </a:r>
            <a:endParaRPr sz="10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    return b &gt;= 0 &amp;&amp; a &lt; (std::make_unsigned_t&lt;U&gt;)b;</a:t>
            </a:r>
            <a:endParaRPr sz="10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0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417320"/>
            <a:ext cx="34747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使用规则</a:t>
            </a:r>
            <a:endParaRPr sz="13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UE 内部：统一用 int32 与 TArray::Num() 比较，天然安全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与 std 容器 / 第三方接口交界处：用 cmp 系列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减法前先判断大小，避免下溢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3310" y="59461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排查技巧：编译时开启</a:t>
            </a:r>
            <a:r>
              <a:rPr sz="11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-</a:t>
            </a:r>
            <a:r>
              <a:rPr sz="11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Wsign</a:t>
            </a:r>
            <a:r>
              <a:rPr sz="11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-compare / -</a:t>
            </a:r>
            <a:r>
              <a:rPr sz="11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Wsign-conversion（MSVC</a:t>
            </a:r>
            <a:r>
              <a:rPr sz="11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/W4），</a:t>
            </a:r>
            <a:r>
              <a:rPr sz="11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编译器会直接标出这些位置</a:t>
            </a:r>
            <a:endParaRPr sz="11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迭代器失效：循环中删除的危险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删除元素会让迭代器 / 索引失效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223760" cy="243230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删除后 It 悬垂，++It 是未定义行为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for (auto It = V.begin(); It != V.end(); ++It)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if (*It == X) V.erase(It);   // 悬垂！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std 容器：用 erase 的返回值接住下一个迭代器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for (auto It = V.begin(); It != V.end(); )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if (*It == X) It = V.erase(It);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    else          ++It;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UE 容器：RemoveAll / 倒序遍历，不手写迭代器循环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34747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核心认知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任何「删除」都可能让正在用的迭代器 / 索引失效 —— 包括 TArray::RemoveAt 和 TMap 的 Remove。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UE 惯例：删除交给容器自身（RemoveAll / RemoveAtSwap），不要在循环里自己维护迭代器。</a:t>
            </a:r>
            <a:endParaRPr sz="12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与「遍历中删除」页呼应：先删后用的后果，比性能问题更严重（未定义行为）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结构体字段初始化：垃圾值的来源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C++ 内置类型不初始化 = 栈上随机垃圾值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223760" cy="3529583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三个字段全是随机值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struct FWeaponSlot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int32 Damage;        // 随机！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float Cooldown;      // 随机！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UPROPERTY() USoundBase* Sound;  // 野指针！GC 会崩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类内默认值，一劳永逸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struct FWeaponSlot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int32 Damage = 0;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float Cooldown = 1.0f;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UPROPERTY() USoundBase* Sound = nullptr;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34747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重点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UPROPERTY 的 UObject 指针不置空 → 野指针，GC / IsValid 直接崩，是「随机崩溃」高发源。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UE 惯例：USTRUCT / UCLASS 成员一律给类内默认值，或构造函数显式初始化。</a:t>
            </a:r>
            <a:endParaRPr sz="12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结构体新增字段时顺手给默认值 —— 成本一行，收益是永远不用猜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仿函数与 Lambda 的底层原理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Lambda = 编译器生成的匿名仿函数：捕获变成员，调用变 operator()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7223760" cy="2651759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仿函数：重载 operator() 的类，可像函数调用，还能携带状态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struct FAdder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float Offset;                                   // 状态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float operator()(float V) const { return V + Offset; }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FAdder Add{ 10.f };  Add(5.f);        // → 15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Lambda 是它的语法糖：编译器生成匿名仿函数类（闭包）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auto AddL = [Offset = 10.f](float V) { return V + Offset; };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展开 ≈ struct Closure { float Offset; float operator()(float) const; };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21040" y="1371600"/>
            <a:ext cx="34747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三个推论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捕获 = 成员变量：生命周期与 lambda 对象绑定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[&amp;Speed] 存的是指向栈对象的引用 → 回调执行时已悬垂（下页详解）</a:t>
            </a:r>
            <a:endParaRPr sz="12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lambda 大小 = 捕获之和；空捕获 ≈ 函数指针，零开销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类型匿名 → 只能用 auto / 模板接收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1051560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与 UE 委托的关系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CreateLambda = 在委托里保存一个仿函数对象；CreateUObject = 保存弱引用 + 成员函数指针 —— 都是「状态 + 调用」的封装，下一页委托页展开。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理解底层之后：写 Lambda 前先想「它会把什么带进闭包、活多久」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Lambda 的坑：捕获与生命周期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延迟 / 异步回调里，引用和裸指针都可能悬垂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223760" cy="2651759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按引用捕获局部变量：回调执行时变量已销毁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float Speed = 10.f;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SetTimer(1s, [&amp;Speed] { Move(Speed); });   // 悬垂引用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捕获 this：this 先销毁 → 悬垂调用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Button-&gt;OnClicked.AddLambda([this] { DoThing(); });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按值捕获：拷贝快照，无生命周期包袱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SetTimer(1s, [Speed] { Move(Speed); });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UE 委托绑定成员函数：销毁自动解绑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FTimerDelegate::CreateUObject(this, &amp;UMyActor::OnTimeout);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34747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提问清单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这个 Lambda 什么时候执行？对象会不会先死？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捕获的对象是「活的」还是「快照」？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无法保证存活 → UE 委托自动解绑（CreateUObject）。</a:t>
            </a:r>
            <a:endParaRPr sz="12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默认按值捕获；引用捕获只用于「同栈帧内必然先执行」的场景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表现层优先用 UE 委托：自动维护生命周期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AddUObject / CreateUObject：对象销毁自动解绑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27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223760" cy="243230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对象销毁时委托系统自动解绑，不会悬垂调用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OnUnitDied.AddUObject(Label, &amp;UUnitLabel::OnDied);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动态委托：蓝图可见，可跨蓝图绑定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DECLARE_DYNAMIC_MULTICAST_DELEGATE_OneParam(FOnHealthChanged, float, NewHealth);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MyHealthChanged.AddDynamic(this, &amp;UHealthBar::OnHealthChanged);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回调风格：创建一次性回调，绑定对象销毁自动失效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FTimerHandle H;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GetWorld()-&gt;GetTimerManager().SetTimer(H, FTimerDelegate::CreateUObject(this, &amp;UMyActor::OnTimeout), 1.f, false);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34747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为什么</a:t>
            </a:r>
            <a:endParaRPr sz="13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委托内部持有 TWeakObjectPtr 弱引用：绑定对象被 GC 回收，委托自动失效，绝不悬垂。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裸函数指针 / 裸 Lambda 捕获 this：忘了手动解绑就悬垂。</a:t>
            </a:r>
            <a:endParaRPr sz="12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适用：表现层事件（单位阵亡、状态变化、UI 刷新、计时器回调）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蓝图：构造函数与 Tick 的纪律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构造阶段不是运行时；脚本 Tick 每帧都很贵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28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10515600" cy="173736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72768"/>
            <a:ext cx="9966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构造函数（Construction Script）</a:t>
            </a:r>
            <a:endParaRPr sz="1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只做「搭建」：组件、默认值、外观。拿 World / Player / 运行时数据放在 BeginPlay。</a:t>
            </a:r>
            <a:endParaRPr sz="13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构造阶段对象还没进世界，很多查询为空，别在这里写业务逻辑。</a:t>
            </a:r>
            <a:endParaRPr sz="13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3291840"/>
            <a:ext cx="10515600" cy="17373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93008"/>
            <a:ext cx="9966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Tick（Event Tick）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蓝图 Tick 跑在脚本虚拟机里，每帧解释执行 —— 单位一多开销被放大。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能事件驱动就不进 Tick；必须每帧的活尽量下沉到 C++，蓝图只挂表现。</a:t>
            </a:r>
            <a:endParaRPr sz="1300" b="0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项目架构对照：BattleCore 逻辑层根本没有蓝图；表现层也优先 C++ Tick + 蓝图事件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• 蓝图 Tick 里禁：每帧查找、每帧创建、每帧字符串拼接</a:t>
            </a:r>
            <a:endParaRPr sz="13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auto 的拷贝陷阱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 默认推导成「值」—— 大对象会被整个拷贝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29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223760" cy="243230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每个元素拷贝一次（TArray / FString / 大结构体很贵）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for (auto Elem : BigArray)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Use(Elem);            // Elem 是副本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遍历只读：const auto&amp;，零拷贝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for (const auto&amp; Elem : BigArray)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    Use(Elem);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要修改：auto&amp;；要副本才用裸 auto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for (auto&amp; Slot : WeaponSlots)          // 项目现有写法正确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34747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注意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元素是 UObject 指针时 auto 无成本（拷指针），但 TArray、FString、FTransform 这类值类型就是深拷贝。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范围 for 里：默认 const auto&amp;，除非真要改。</a:t>
            </a:r>
            <a:endParaRPr sz="12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auto 的另一面：类型隐晦。团队惯例：能写具体类型（int32 / FUnit*）就写，只在长类型名时用 auto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指针类型选型：一份生命周期契约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每种类型都声明了「谁持有、谁回收」—— 选错就是悬垂与崩溃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105156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3291840"/>
                <a:gridCol w="44805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类型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生命周期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适用场景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普通值（int32 / FVector / TArray）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自身管理 · 无问题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数据成员、临时变量 —— 默认首选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UObject* + UPROPERTY()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GC 强引用 · 保活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默认选择：资源 / 组件 / Actor 引用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TObjectPtr&lt;UObject&gt;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GC 强引用 · 支持延迟加载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替代 UObject 裸指针（4.27 可用）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TWeakObjectPtr&lt;UObject&gt;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弱引用 · 不阻止回收 · 自动失效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缓存 / 观察者（对象可能销毁）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TSharedPtr / TWeakPtr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引用计数（非 UObject）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纯 C++ 对象共享所有权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裸指针（纯 C++）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手动管理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BattleCore 逻辑层：谁创建谁负责</a:t>
                      </a:r>
                      <a:endParaRPr sz="11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069080"/>
            <a:ext cx="7223760" cy="1115568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选型三问：谁持有？会销毁吗？GC 管得到吗？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UPROPERTY() USoundBase* MySound;   // 默认：GC 强引用保活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TWeakObjectPtr&lt;AActor&gt; Target;     // 弱引用：销毁后自动判空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TSharedPtr&lt;FConfig&gt; Cfg;           // 非 UObject：引用计数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411480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怎么选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默认：普通值 / UPROPERTY 指针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要安全地观察可能销毁的对象 → TWeakObjectPtr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逻辑层纯 C++ → 裸指针 + 所有权约定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项目对照：BattleCore 无 GC 用裸指针；表现层全部 UObject 体系，引用一律 UPROPERTY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45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56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接口与协作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接口是给队友读的，让他们少猜</a:t>
            </a:r>
            <a:endParaRPr sz="16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返回值设计：最小接口 · TOptional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返回引用 or 快照拷贝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•  降低合作者的心智负担</a:t>
            </a:r>
            <a:endParaRPr sz="13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接口设计：别把全量容器甩给调用方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返回值只给「对方真正需要的能力」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223760" cy="2212848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返回全量数组，调用方再自己查找 ——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   内部结构泄漏 + 每次查找都扫一遍全量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const TArray&lt;FUnit*&gt;&amp; GetAllUnits() const;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// 调用方：FindUnit(GetAllUnits(), Id)  ← 反复线性扫</a:t>
            </a: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最小接口：直接给结果，内部随便怎么存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FUnit* FindUnit(int32 Id);      // 找不到返回 nullptr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bool  HasUnit(int32 Id) const;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int32 CountUnits() const;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34747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为什么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「给你全部，你自己找」= 调用方写重复逻辑 + 你的内部实现被锁死（以后改存储结构会波及所有人）。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数据留在内部，能力通过方法提供 —— 这也是降低心智负担的一部分。</a:t>
            </a:r>
            <a:endParaRPr sz="12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例外：遍历本身就是目的（渲染列表、序列化）时，返回 const 引用 + 文档说明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返回值语义：无结果用 TOptional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0 可能是合法值 —— 别用魔法值表达「没有」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31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223760" cy="2871215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0 表示「没有」？但座位 0 是合法的！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int32 FindSeat() { return bHasSeat ? SeatIndex : 0; }  // 歧义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TOptional：明确表达「可能无结果」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TOptional&lt;int32&gt; FindSeat()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    return bHasSeat ? TOptional&lt;int32&gt;(SeatIndex) : TOptional&lt;int32&gt;();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调用方</a:t>
            </a:r>
            <a:endParaRPr sz="115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if (TOptional&lt;int32&gt; Seat = FindSeat())</a:t>
            </a:r>
            <a:endParaRPr sz="115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    Use(Seat.GetValue());</a:t>
            </a:r>
            <a:endParaRPr sz="115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34747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适用场景</a:t>
            </a:r>
            <a:endParaRPr sz="13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位置、索引、ID 这类「0 有意义」的返回值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查询类接口：找到/没找到是两种状态，不是一种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UE 用 TOptional&lt;T&gt;（不是 std::optional）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同理：-1 表达「没有」也要小心 —— 用 TOptional 一劳永逸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返回引用 or 拷贝：取决于访问者的需求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只要「当时的快照」→ 拷贝；要长期持有 / 修改 → 引用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7223760" cy="1993391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快照语义：返回拷贝，调用方无生命周期包袱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FVector GetPosition() const;               // 值类型，拷贝便宜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✅ 引用语义：长期持有 / 修改原数据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const TArray&lt;FUnit*&gt;&amp; GetMembers() const;  // 零拷贝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// ❌ 绝不返回「可能已销毁对象」的引用</a:t>
            </a:r>
            <a:endParaRPr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D866"/>
                </a:solidFill>
                <a:latin typeface="Consolas" panose="020B0609020204030204"/>
                <a:ea typeface="Consolas" panose="020B0609020204030204"/>
              </a:rPr>
              <a:t>const FUnit*&amp; GetDeadUnit() const;         // 悬垂风险</a:t>
            </a:r>
            <a:endParaRPr sz="1200" b="0">
              <a:solidFill>
                <a:srgbClr val="FFD86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34747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决策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只读一次 → 拷贝（简单、安全、线程友好）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反复访问 / 要修改 → const 引用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要跨作用域持有 → 拷贝 或 TSharedPtr，别留引用</a:t>
            </a:r>
            <a:endParaRPr sz="12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• 快照语义的代价是一次拷贝 —— 在「正确性」面前，这份拷贝通常很便宜</a:t>
            </a:r>
            <a:endParaRPr sz="1300" b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类与函数设计：降低合作者的心智负担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接口是给队友读的 —— 让他们少猜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33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10515600" cy="7132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命名即文档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0" y="1527048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FindUnit 就返回单位；别叫 Find 却返回 bool + 出参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2240280"/>
            <a:ext cx="10515600" cy="7132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1343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单一职责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0" y="2395728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一个函数只做一件事；太长就拆（文件同理）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3108960"/>
            <a:ext cx="10515600" cy="7132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8211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参数最少化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0" y="3264408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能用 1 个参数不用 3 个；给合理的默认值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40"/>
            <a:ext cx="10515600" cy="7132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507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const 正确性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4133088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能 const 就 const —— 接口自己声明「我不改你的数据」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2960" y="4846320"/>
            <a:ext cx="10515600" cy="7132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91947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错误显式化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0" y="5001768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找不到 → 返回 nullptr / TOptional；不要魔法值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判据：你的接口，队友不看实现能正确用吗？不能 → 继续简化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全课总结：结构总览</a:t>
            </a:r>
            <a:endParaRPr sz="2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2011680" cy="320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五个章节，一条主线 —— 先懂架构，再写代码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AutoRTS基础讲解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0515600" cy="7132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9047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5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83080" y="148132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原理与架构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57800" y="1581912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先懂框架：帧同步 × 逻辑/表现分层 —— 所有纪律的根源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234440" y="2240280"/>
            <a:ext cx="10104120" cy="7132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31343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5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94560" y="23042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容器与算法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79" y="2404872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数据怎么存：内存布局 → 选型 —— 性能的起点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645920" y="3063240"/>
            <a:ext cx="9692640" cy="7132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313639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5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06040" y="312724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内存与分配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80759" y="322783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内存怎么管：GC 原理 × 零堆分配纪律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057400" y="3886200"/>
            <a:ext cx="9281160" cy="7132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395935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5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17520" y="395020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类型与生命周期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4050791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正确性保障：类型安全 × 指针契约 × 回调生命周期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468880" y="4709160"/>
            <a:ext cx="8869680" cy="7132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478231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5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29000" y="477316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接口与协作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03720" y="4873752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协作设计：返回值语义 × 降低心智负担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" y="557784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687568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第一性原理：复杂 = 简单模块的组合；业务本质 = 增删改查 —— 锚定原理，自检每一行代码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 · Q &amp; A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19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 err="1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AutoRTS</a:t>
            </a:r>
            <a:r>
              <a:rPr sz="1200" b="0" dirty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200" b="0" dirty="0" err="1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sz="1200" b="0" dirty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1200" b="0" dirty="0" err="1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新人培训</a:t>
            </a:r>
            <a:endParaRPr sz="1200" b="0" dirty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15957</Words>
  <Application>WPS 演示</Application>
  <PresentationFormat>宽屏</PresentationFormat>
  <Paragraphs>1205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3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jayHe</cp:lastModifiedBy>
  <cp:revision>11</cp:revision>
  <dcterms:created xsi:type="dcterms:W3CDTF">2013-01-27T09:14:00Z</dcterms:created>
  <dcterms:modified xsi:type="dcterms:W3CDTF">2026-08-09T08:55:38Z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ADB6DDE858034E4DBD071915BA62FCD7_12</vt:lpwstr>
  </property>
  <property fmtid="{D5CDD505-2E9C-101B-9397-08002B2CF9AE}" pid="3" name="KSOProductBuildVer">
    <vt:lpwstr>2052-12.1.0.28043</vt:lpwstr>
  </property>
</Properties>
</file>